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60" r:id="rId4"/>
    <p:sldId id="259"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24" userDrawn="1">
          <p15:clr>
            <a:srgbClr val="A4A3A4"/>
          </p15:clr>
        </p15:guide>
        <p15:guide id="2" pos="758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7C7E7F"/>
    <a:srgbClr val="646363"/>
    <a:srgbClr val="7B6E66"/>
    <a:srgbClr val="BF5449"/>
    <a:srgbClr val="BE5145"/>
    <a:srgbClr val="CDAC9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0364" autoAdjust="0"/>
  </p:normalViewPr>
  <p:slideViewPr>
    <p:cSldViewPr snapToGrid="0" showGuides="1">
      <p:cViewPr>
        <p:scale>
          <a:sx n="81" d="100"/>
          <a:sy n="81" d="100"/>
        </p:scale>
        <p:origin x="1680" y="570"/>
      </p:cViewPr>
      <p:guideLst>
        <p:guide orient="horz" pos="4224"/>
        <p:guide pos="758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CF848-C038-413D-A5D9-50C103475236}" type="datetimeFigureOut">
              <a:rPr lang="en-CA" smtClean="0"/>
              <a:t>02/03/2025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F2AA45-D503-4C93-9967-314603AC65A4}" type="slidenum">
              <a:rPr lang="en-CA" smtClean="0"/>
              <a:t>‹#›</a:t>
            </a:fld>
            <a:endParaRPr lang="en-CA"/>
          </a:p>
        </p:txBody>
      </p:sp>
    </p:spTree>
    <p:extLst>
      <p:ext uri="{BB962C8B-B14F-4D97-AF65-F5344CB8AC3E}">
        <p14:creationId xmlns:p14="http://schemas.microsoft.com/office/powerpoint/2010/main" val="1954115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FF2AA45-D503-4C93-9967-314603AC65A4}" type="slidenum">
              <a:rPr lang="en-CA" smtClean="0"/>
              <a:t>1</a:t>
            </a:fld>
            <a:endParaRPr lang="en-CA"/>
          </a:p>
        </p:txBody>
      </p:sp>
    </p:spTree>
    <p:extLst>
      <p:ext uri="{BB962C8B-B14F-4D97-AF65-F5344CB8AC3E}">
        <p14:creationId xmlns:p14="http://schemas.microsoft.com/office/powerpoint/2010/main" val="16590016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Not exactly a reasonable range when looking at GLOBAL AVERAGE temperatures in recent years.  If the average were anywhere near 43 degrees or -18 degrees, we would all be dead. (could argue over much longer time periods it might be reasonable…)</a:t>
            </a:r>
          </a:p>
          <a:p>
            <a:endParaRPr lang="en-CA" dirty="0"/>
          </a:p>
          <a:p>
            <a:r>
              <a:rPr lang="en-CA" dirty="0"/>
              <a:t>As a Canadian, my first question is why are we using Fahrenheit at all, this is not a baking class, but then I recalled the US uses F….</a:t>
            </a:r>
          </a:p>
          <a:p>
            <a:endParaRPr lang="en-CA" dirty="0"/>
          </a:p>
          <a:p>
            <a:r>
              <a:rPr lang="en-CA" dirty="0"/>
              <a:t>While you could argue that starting at 0 is good charting practice, it really depends on the nature of the data. Over these 144 years we have never reached either of those extremes </a:t>
            </a:r>
            <a:r>
              <a:rPr lang="en-CA" dirty="0" err="1"/>
              <a:t>bc</a:t>
            </a:r>
            <a:r>
              <a:rPr lang="en-CA" dirty="0"/>
              <a:t> this is an average temp across the whole world. </a:t>
            </a:r>
          </a:p>
          <a:p>
            <a:endParaRPr lang="en-CA" dirty="0"/>
          </a:p>
          <a:p>
            <a:r>
              <a:rPr lang="en-CA" dirty="0"/>
              <a:t>Also, which temperature metric (land surface, ocean, both)? Why are axes labels invisible and not titled? What’s the data source?</a:t>
            </a:r>
          </a:p>
        </p:txBody>
      </p:sp>
      <p:sp>
        <p:nvSpPr>
          <p:cNvPr id="4" name="Slide Number Placeholder 3"/>
          <p:cNvSpPr>
            <a:spLocks noGrp="1"/>
          </p:cNvSpPr>
          <p:nvPr>
            <p:ph type="sldNum" sz="quarter" idx="5"/>
          </p:nvPr>
        </p:nvSpPr>
        <p:spPr/>
        <p:txBody>
          <a:bodyPr/>
          <a:lstStyle/>
          <a:p>
            <a:fld id="{2FF2AA45-D503-4C93-9967-314603AC65A4}" type="slidenum">
              <a:rPr lang="en-CA" smtClean="0"/>
              <a:t>2</a:t>
            </a:fld>
            <a:endParaRPr lang="en-CA"/>
          </a:p>
        </p:txBody>
      </p:sp>
    </p:spTree>
    <p:extLst>
      <p:ext uri="{BB962C8B-B14F-4D97-AF65-F5344CB8AC3E}">
        <p14:creationId xmlns:p14="http://schemas.microsoft.com/office/powerpoint/2010/main" val="36006483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Ensure the data source is reliable – ok but I’m doing sketchy calcs…</a:t>
            </a:r>
          </a:p>
          <a:p>
            <a:endParaRPr lang="en-CA" dirty="0"/>
          </a:p>
          <a:p>
            <a:r>
              <a:rPr lang="en-CA" dirty="0"/>
              <a:t>Or consider simply what range of change we’re concerned about if don’t want to do anomaly – for e.g. we know we were concerned about 1, 1.5, and 2 degrees increases, so perhaps consider a </a:t>
            </a:r>
            <a:r>
              <a:rPr lang="en-CA" dirty="0" err="1"/>
              <a:t>ya</a:t>
            </a:r>
            <a:r>
              <a:rPr lang="en-CA" dirty="0"/>
              <a:t> </a:t>
            </a:r>
            <a:r>
              <a:rPr lang="en-CA" dirty="0" err="1"/>
              <a:t>xis</a:t>
            </a:r>
            <a:r>
              <a:rPr lang="en-CA" dirty="0"/>
              <a:t> that reflects this. Or, see what your max and min is and plot accordingly! </a:t>
            </a:r>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Consider an anomaly approach instead, as that is really what we’re interested in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r>
              <a:rPr lang="en-CA" dirty="0"/>
              <a:t>Land, ocean, both…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CA" dirty="0"/>
          </a:p>
          <a:p>
            <a:endParaRPr lang="en-CA" dirty="0"/>
          </a:p>
        </p:txBody>
      </p:sp>
      <p:sp>
        <p:nvSpPr>
          <p:cNvPr id="4" name="Slide Number Placeholder 3"/>
          <p:cNvSpPr>
            <a:spLocks noGrp="1"/>
          </p:cNvSpPr>
          <p:nvPr>
            <p:ph type="sldNum" sz="quarter" idx="5"/>
          </p:nvPr>
        </p:nvSpPr>
        <p:spPr/>
        <p:txBody>
          <a:bodyPr/>
          <a:lstStyle/>
          <a:p>
            <a:fld id="{2FF2AA45-D503-4C93-9967-314603AC65A4}" type="slidenum">
              <a:rPr lang="en-CA" smtClean="0"/>
              <a:t>4</a:t>
            </a:fld>
            <a:endParaRPr lang="en-CA"/>
          </a:p>
        </p:txBody>
      </p:sp>
    </p:spTree>
    <p:extLst>
      <p:ext uri="{BB962C8B-B14F-4D97-AF65-F5344CB8AC3E}">
        <p14:creationId xmlns:p14="http://schemas.microsoft.com/office/powerpoint/2010/main" val="38515492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b="1" dirty="0"/>
              <a:t>Can’t see here but also interactive – zoom in and out, hover w data </a:t>
            </a:r>
          </a:p>
        </p:txBody>
      </p:sp>
      <p:sp>
        <p:nvSpPr>
          <p:cNvPr id="4" name="Slide Number Placeholder 3"/>
          <p:cNvSpPr>
            <a:spLocks noGrp="1"/>
          </p:cNvSpPr>
          <p:nvPr>
            <p:ph type="sldNum" sz="quarter" idx="5"/>
          </p:nvPr>
        </p:nvSpPr>
        <p:spPr/>
        <p:txBody>
          <a:bodyPr/>
          <a:lstStyle/>
          <a:p>
            <a:fld id="{2FF2AA45-D503-4C93-9967-314603AC65A4}" type="slidenum">
              <a:rPr lang="en-CA" smtClean="0"/>
              <a:t>5</a:t>
            </a:fld>
            <a:endParaRPr lang="en-CA"/>
          </a:p>
        </p:txBody>
      </p:sp>
    </p:spTree>
    <p:extLst>
      <p:ext uri="{BB962C8B-B14F-4D97-AF65-F5344CB8AC3E}">
        <p14:creationId xmlns:p14="http://schemas.microsoft.com/office/powerpoint/2010/main" val="24122096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2FF2AA45-D503-4C93-9967-314603AC65A4}" type="slidenum">
              <a:rPr lang="en-CA" smtClean="0"/>
              <a:t>6</a:t>
            </a:fld>
            <a:endParaRPr lang="en-CA"/>
          </a:p>
        </p:txBody>
      </p:sp>
    </p:spTree>
    <p:extLst>
      <p:ext uri="{BB962C8B-B14F-4D97-AF65-F5344CB8AC3E}">
        <p14:creationId xmlns:p14="http://schemas.microsoft.com/office/powerpoint/2010/main" val="31703647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Both these graphics are misleading in their own ways. How would you present this data? You can consider aspects such as the time scale, how the data is described, how variability is shown, the use of a reference period, etc. </a:t>
            </a:r>
          </a:p>
          <a:p>
            <a:endParaRPr lang="en-CA" dirty="0"/>
          </a:p>
          <a:p>
            <a:r>
              <a:rPr lang="en-CA" dirty="0"/>
              <a:t>What are some things to consider?</a:t>
            </a:r>
          </a:p>
          <a:p>
            <a:r>
              <a:rPr lang="en-CA" dirty="0"/>
              <a:t>Plot on a longer time scale (but 1880 is direct measurement)</a:t>
            </a:r>
          </a:p>
          <a:p>
            <a:r>
              <a:rPr lang="en-CA" dirty="0"/>
              <a:t>Heavily influenced by reference period (e.g. chose recent one</a:t>
            </a:r>
          </a:p>
          <a:p>
            <a:r>
              <a:rPr lang="en-CA" dirty="0"/>
              <a:t>No mention of type of loess… 5 in </a:t>
            </a:r>
            <a:r>
              <a:rPr lang="en-CA" dirty="0" err="1"/>
              <a:t>df</a:t>
            </a:r>
            <a:endParaRPr lang="en-CA" dirty="0"/>
          </a:p>
          <a:p>
            <a:r>
              <a:rPr lang="en-CA" dirty="0"/>
              <a:t>Some indicator of variability?</a:t>
            </a:r>
          </a:p>
          <a:p>
            <a:r>
              <a:rPr lang="en-CA" dirty="0"/>
              <a:t>Do a better job with the title and y axis – </a:t>
            </a:r>
            <a:r>
              <a:rPr lang="en-CA" dirty="0" err="1"/>
              <a:t>eg</a:t>
            </a:r>
            <a:r>
              <a:rPr lang="en-CA" dirty="0"/>
              <a:t> change in mean annual global surface temperature, as compared to the 1951-1980 average. </a:t>
            </a:r>
          </a:p>
          <a:p>
            <a:r>
              <a:rPr lang="en-CA" dirty="0"/>
              <a:t>Caption describing data </a:t>
            </a:r>
            <a:r>
              <a:rPr lang="en-CA" dirty="0" err="1"/>
              <a:t>manip</a:t>
            </a:r>
            <a:endParaRPr lang="en-CA" dirty="0"/>
          </a:p>
          <a:p>
            <a:endParaRPr lang="en-CA" dirty="0"/>
          </a:p>
        </p:txBody>
      </p:sp>
      <p:sp>
        <p:nvSpPr>
          <p:cNvPr id="4" name="Slide Number Placeholder 3"/>
          <p:cNvSpPr>
            <a:spLocks noGrp="1"/>
          </p:cNvSpPr>
          <p:nvPr>
            <p:ph type="sldNum" sz="quarter" idx="5"/>
          </p:nvPr>
        </p:nvSpPr>
        <p:spPr/>
        <p:txBody>
          <a:bodyPr/>
          <a:lstStyle/>
          <a:p>
            <a:fld id="{2FF2AA45-D503-4C93-9967-314603AC65A4}" type="slidenum">
              <a:rPr lang="en-CA" smtClean="0"/>
              <a:t>7</a:t>
            </a:fld>
            <a:endParaRPr lang="en-CA"/>
          </a:p>
        </p:txBody>
      </p:sp>
    </p:spTree>
    <p:extLst>
      <p:ext uri="{BB962C8B-B14F-4D97-AF65-F5344CB8AC3E}">
        <p14:creationId xmlns:p14="http://schemas.microsoft.com/office/powerpoint/2010/main" val="39368085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823EE-36B4-7376-2B7A-6AE9280A035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FC68C76D-9601-AFA3-393C-404AAD3FDA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0253C6A8-8730-98D8-6167-090257F8E69F}"/>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5" name="Footer Placeholder 4">
            <a:extLst>
              <a:ext uri="{FF2B5EF4-FFF2-40B4-BE49-F238E27FC236}">
                <a16:creationId xmlns:a16="http://schemas.microsoft.com/office/drawing/2014/main" id="{C5F934BB-F807-D5F3-C6B8-5E7F805A9B28}"/>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1D7DDE82-3E22-FBEE-8587-0B3618EB5B70}"/>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3969876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CD396-CABB-7402-AD6A-8FDC28B2C875}"/>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E2BFC591-B90F-7C63-87D5-04EB57BC090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B61D6622-E9B8-0AFF-CDB9-937C71B804D1}"/>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5" name="Footer Placeholder 4">
            <a:extLst>
              <a:ext uri="{FF2B5EF4-FFF2-40B4-BE49-F238E27FC236}">
                <a16:creationId xmlns:a16="http://schemas.microsoft.com/office/drawing/2014/main" id="{83D155DD-D3A0-7A1C-953B-F532427BC59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ACCF73D-F591-6F16-6C48-33D9FD5ABED1}"/>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10438622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6FCDE-E8D3-F07A-C0F0-488F87F4F6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02A93C05-B7D6-1960-25A1-A2D2779735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5C17E8-6BF5-F8BF-F019-3D129D426BB2}"/>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5" name="Footer Placeholder 4">
            <a:extLst>
              <a:ext uri="{FF2B5EF4-FFF2-40B4-BE49-F238E27FC236}">
                <a16:creationId xmlns:a16="http://schemas.microsoft.com/office/drawing/2014/main" id="{A41A2512-A314-EDEE-4DC9-EB4681B5C030}"/>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CA675F6-BC63-B8A9-41B7-8630B4465ACD}"/>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2463054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BBE59-F083-782F-ED9D-E11A1A406E6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62FF622E-51C2-A919-FD89-36817166DE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401A437D-686E-8FF5-155A-EF1DAEDFC1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42528141-4103-00DE-CBA4-C97F49B18593}"/>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6" name="Footer Placeholder 5">
            <a:extLst>
              <a:ext uri="{FF2B5EF4-FFF2-40B4-BE49-F238E27FC236}">
                <a16:creationId xmlns:a16="http://schemas.microsoft.com/office/drawing/2014/main" id="{805D3ABF-1AE7-5DBD-ECAC-EB890CF8282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2B8FE9AD-3FC7-A4C7-5F99-DD35477E2995}"/>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3760808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97F22-6602-1E10-8D32-E11E48F53222}"/>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DF5322BD-8890-B331-2C3D-B472068C45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932EBE-EF8A-7347-982D-90883C45C1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4E79A8A4-8260-7459-851E-61182AA851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46D27E-5575-28F6-D370-FE810849BD4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51BB1AE5-86FB-C17B-5AF0-5963A1D67A70}"/>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8" name="Footer Placeholder 7">
            <a:extLst>
              <a:ext uri="{FF2B5EF4-FFF2-40B4-BE49-F238E27FC236}">
                <a16:creationId xmlns:a16="http://schemas.microsoft.com/office/drawing/2014/main" id="{72D56ABC-66A0-8BAE-1DD6-EF77F0230D55}"/>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AB38B16C-A47B-9EBC-42A7-C776DC3EADAE}"/>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1870599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2F3F7-B464-D384-B91F-036C1BA01C9D}"/>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162A97E1-A52B-7C35-F419-455A6F06A6E7}"/>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4" name="Footer Placeholder 3">
            <a:extLst>
              <a:ext uri="{FF2B5EF4-FFF2-40B4-BE49-F238E27FC236}">
                <a16:creationId xmlns:a16="http://schemas.microsoft.com/office/drawing/2014/main" id="{CA828C59-7A44-2559-D6D2-E130AE75996C}"/>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5826D47A-684C-BD66-7EB4-29ADF5F1EB6B}"/>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2039732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EDC349-E03E-1B4D-28EB-5B0A65B6D5AC}"/>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3" name="Footer Placeholder 2">
            <a:extLst>
              <a:ext uri="{FF2B5EF4-FFF2-40B4-BE49-F238E27FC236}">
                <a16:creationId xmlns:a16="http://schemas.microsoft.com/office/drawing/2014/main" id="{5A67BB2E-D1D6-8857-0F90-3AACCACADBE9}"/>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87867E13-965E-DAC9-69E1-447BB466DD57}"/>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368447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79C10F-FC99-263C-60D6-9E9D171BAAE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7D516A56-62F0-2618-48BF-7849652198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592844DA-D12B-F05D-81DB-26406AC498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CC949D-0221-1B8E-E5BB-19D87E03E02D}"/>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6" name="Footer Placeholder 5">
            <a:extLst>
              <a:ext uri="{FF2B5EF4-FFF2-40B4-BE49-F238E27FC236}">
                <a16:creationId xmlns:a16="http://schemas.microsoft.com/office/drawing/2014/main" id="{24001EDA-123D-B897-D88B-1DBF8AD6396B}"/>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6391571-A94C-247F-85BB-50E4C0A2AF47}"/>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1350454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D16DB-5004-A85E-D64D-E846FEF67D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4E5E5676-24B1-1E6E-4843-2B4EC59E8F3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573CC811-0A6E-1632-4CBE-113BD93B38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418490-C502-072B-AAFF-07607A7AE6BE}"/>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6" name="Footer Placeholder 5">
            <a:extLst>
              <a:ext uri="{FF2B5EF4-FFF2-40B4-BE49-F238E27FC236}">
                <a16:creationId xmlns:a16="http://schemas.microsoft.com/office/drawing/2014/main" id="{3DF5DC2C-1E3E-04BD-D20A-2F196A71A978}"/>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18FBCE08-1CAB-FA00-8BE5-0625EFE19383}"/>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3169439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39E6E-E4D1-BC80-8A29-FD329C86B4B2}"/>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2A7EE00C-827B-7931-4644-B19D3DC412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C310A032-2EC7-CEF6-27D9-D6618351731D}"/>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5" name="Footer Placeholder 4">
            <a:extLst>
              <a:ext uri="{FF2B5EF4-FFF2-40B4-BE49-F238E27FC236}">
                <a16:creationId xmlns:a16="http://schemas.microsoft.com/office/drawing/2014/main" id="{6C87A14A-5563-6A26-E2B0-E62532D2312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AAD01A2-AED0-B2BE-C6A3-70635EAD15CE}"/>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29002374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48A87F-287C-08E9-5453-6F51AA3650A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9081EE2E-B9CB-1AC6-0731-374418B63E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83003894-E871-39AA-4CFC-22AA8C9031E0}"/>
              </a:ext>
            </a:extLst>
          </p:cNvPr>
          <p:cNvSpPr>
            <a:spLocks noGrp="1"/>
          </p:cNvSpPr>
          <p:nvPr>
            <p:ph type="dt" sz="half" idx="10"/>
          </p:nvPr>
        </p:nvSpPr>
        <p:spPr/>
        <p:txBody>
          <a:bodyPr/>
          <a:lstStyle/>
          <a:p>
            <a:fld id="{3B39C0C4-9FBF-48AD-8596-C7456EC87015}" type="datetimeFigureOut">
              <a:rPr lang="en-CA" smtClean="0"/>
              <a:t>02/03/2025</a:t>
            </a:fld>
            <a:endParaRPr lang="en-CA"/>
          </a:p>
        </p:txBody>
      </p:sp>
      <p:sp>
        <p:nvSpPr>
          <p:cNvPr id="5" name="Footer Placeholder 4">
            <a:extLst>
              <a:ext uri="{FF2B5EF4-FFF2-40B4-BE49-F238E27FC236}">
                <a16:creationId xmlns:a16="http://schemas.microsoft.com/office/drawing/2014/main" id="{E83BD186-95CF-A28E-1EBB-2BCE004CAAB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C71AD72-447D-E7B6-C1F2-D39165337519}"/>
              </a:ext>
            </a:extLst>
          </p:cNvPr>
          <p:cNvSpPr>
            <a:spLocks noGrp="1"/>
          </p:cNvSpPr>
          <p:nvPr>
            <p:ph type="sldNum" sz="quarter" idx="12"/>
          </p:nvPr>
        </p:nvSpPr>
        <p:spPr/>
        <p:txBody>
          <a:bodyPr/>
          <a:lstStyle/>
          <a:p>
            <a:fld id="{CE379792-C734-4CD6-B4AB-DEC25A7082C9}" type="slidenum">
              <a:rPr lang="en-CA" smtClean="0"/>
              <a:t>‹#›</a:t>
            </a:fld>
            <a:endParaRPr lang="en-CA"/>
          </a:p>
        </p:txBody>
      </p:sp>
    </p:spTree>
    <p:extLst>
      <p:ext uri="{BB962C8B-B14F-4D97-AF65-F5344CB8AC3E}">
        <p14:creationId xmlns:p14="http://schemas.microsoft.com/office/powerpoint/2010/main" val="33774893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9C16802-DB86-6994-3CF3-D4D74FB635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8339C3CF-C7A8-7C9F-CC7E-2E2FB2E06C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4222A8D-3B05-2BF6-0845-3317DE0B54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B39C0C4-9FBF-48AD-8596-C7456EC87015}" type="datetimeFigureOut">
              <a:rPr lang="en-CA" smtClean="0"/>
              <a:t>02/03/2025</a:t>
            </a:fld>
            <a:endParaRPr lang="en-CA"/>
          </a:p>
        </p:txBody>
      </p:sp>
      <p:sp>
        <p:nvSpPr>
          <p:cNvPr id="5" name="Footer Placeholder 4">
            <a:extLst>
              <a:ext uri="{FF2B5EF4-FFF2-40B4-BE49-F238E27FC236}">
                <a16:creationId xmlns:a16="http://schemas.microsoft.com/office/drawing/2014/main" id="{A57BA6C3-DA59-EAD1-1EA8-8AB1AB936F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2DE2B6F3-727D-75A9-C06A-8F7E55C8CB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379792-C734-4CD6-B4AB-DEC25A7082C9}" type="slidenum">
              <a:rPr lang="en-CA" smtClean="0"/>
              <a:t>‹#›</a:t>
            </a:fld>
            <a:endParaRPr lang="en-CA"/>
          </a:p>
        </p:txBody>
      </p:sp>
    </p:spTree>
    <p:extLst>
      <p:ext uri="{BB962C8B-B14F-4D97-AF65-F5344CB8AC3E}">
        <p14:creationId xmlns:p14="http://schemas.microsoft.com/office/powerpoint/2010/main" val="1166216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ED5A3-E715-9AFB-807F-1B6129D8DB78}"/>
              </a:ext>
            </a:extLst>
          </p:cNvPr>
          <p:cNvSpPr>
            <a:spLocks noGrp="1"/>
          </p:cNvSpPr>
          <p:nvPr>
            <p:ph type="title"/>
          </p:nvPr>
        </p:nvSpPr>
        <p:spPr/>
        <p:txBody>
          <a:bodyPr/>
          <a:lstStyle/>
          <a:p>
            <a:r>
              <a:rPr lang="en-CA" dirty="0"/>
              <a:t>What’s wrong with this plot?</a:t>
            </a:r>
          </a:p>
        </p:txBody>
      </p:sp>
      <p:pic>
        <p:nvPicPr>
          <p:cNvPr id="4" name="Picture 3">
            <a:extLst>
              <a:ext uri="{FF2B5EF4-FFF2-40B4-BE49-F238E27FC236}">
                <a16:creationId xmlns:a16="http://schemas.microsoft.com/office/drawing/2014/main" id="{F3A3608F-3BD9-DFE9-6B21-7C7E8759BECE}"/>
              </a:ext>
            </a:extLst>
          </p:cNvPr>
          <p:cNvPicPr>
            <a:picLocks noChangeAspect="1"/>
          </p:cNvPicPr>
          <p:nvPr/>
        </p:nvPicPr>
        <p:blipFill>
          <a:blip r:embed="rId3"/>
          <a:stretch>
            <a:fillRect/>
          </a:stretch>
        </p:blipFill>
        <p:spPr>
          <a:xfrm>
            <a:off x="639746" y="1352041"/>
            <a:ext cx="5992167" cy="5434756"/>
          </a:xfrm>
          <a:prstGeom prst="rect">
            <a:avLst/>
          </a:prstGeom>
        </p:spPr>
      </p:pic>
    </p:spTree>
    <p:extLst>
      <p:ext uri="{BB962C8B-B14F-4D97-AF65-F5344CB8AC3E}">
        <p14:creationId xmlns:p14="http://schemas.microsoft.com/office/powerpoint/2010/main" val="1031013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ED5A3-E715-9AFB-807F-1B6129D8DB78}"/>
              </a:ext>
            </a:extLst>
          </p:cNvPr>
          <p:cNvSpPr>
            <a:spLocks noGrp="1"/>
          </p:cNvSpPr>
          <p:nvPr>
            <p:ph type="title"/>
          </p:nvPr>
        </p:nvSpPr>
        <p:spPr/>
        <p:txBody>
          <a:bodyPr/>
          <a:lstStyle/>
          <a:p>
            <a:r>
              <a:rPr lang="en-CA" dirty="0"/>
              <a:t>What’s wrong with this plot?</a:t>
            </a:r>
          </a:p>
        </p:txBody>
      </p:sp>
      <p:pic>
        <p:nvPicPr>
          <p:cNvPr id="4" name="Picture 3">
            <a:extLst>
              <a:ext uri="{FF2B5EF4-FFF2-40B4-BE49-F238E27FC236}">
                <a16:creationId xmlns:a16="http://schemas.microsoft.com/office/drawing/2014/main" id="{F3A3608F-3BD9-DFE9-6B21-7C7E8759BECE}"/>
              </a:ext>
            </a:extLst>
          </p:cNvPr>
          <p:cNvPicPr>
            <a:picLocks noChangeAspect="1"/>
          </p:cNvPicPr>
          <p:nvPr/>
        </p:nvPicPr>
        <p:blipFill>
          <a:blip r:embed="rId3"/>
          <a:stretch>
            <a:fillRect/>
          </a:stretch>
        </p:blipFill>
        <p:spPr>
          <a:xfrm>
            <a:off x="639746" y="1352041"/>
            <a:ext cx="5992167" cy="5434756"/>
          </a:xfrm>
          <a:prstGeom prst="rect">
            <a:avLst/>
          </a:prstGeom>
        </p:spPr>
      </p:pic>
      <p:sp>
        <p:nvSpPr>
          <p:cNvPr id="6" name="TextBox 5">
            <a:extLst>
              <a:ext uri="{FF2B5EF4-FFF2-40B4-BE49-F238E27FC236}">
                <a16:creationId xmlns:a16="http://schemas.microsoft.com/office/drawing/2014/main" id="{4545913C-0A57-35C9-8E30-F4A4D20E66C0}"/>
              </a:ext>
            </a:extLst>
          </p:cNvPr>
          <p:cNvSpPr txBox="1"/>
          <p:nvPr/>
        </p:nvSpPr>
        <p:spPr>
          <a:xfrm>
            <a:off x="6631913" y="6084443"/>
            <a:ext cx="5560087" cy="400110"/>
          </a:xfrm>
          <a:prstGeom prst="rect">
            <a:avLst/>
          </a:prstGeom>
          <a:noFill/>
        </p:spPr>
        <p:txBody>
          <a:bodyPr wrap="square">
            <a:spAutoFit/>
          </a:bodyPr>
          <a:lstStyle/>
          <a:p>
            <a:r>
              <a:rPr lang="en-CA" sz="2000" dirty="0"/>
              <a:t>0 degrees Fahrenheit = </a:t>
            </a:r>
            <a:r>
              <a:rPr lang="en-CA" sz="2000" b="1" dirty="0">
                <a:solidFill>
                  <a:srgbClr val="0070C0"/>
                </a:solidFill>
              </a:rPr>
              <a:t>-18 degrees Celsius</a:t>
            </a:r>
          </a:p>
        </p:txBody>
      </p:sp>
      <p:cxnSp>
        <p:nvCxnSpPr>
          <p:cNvPr id="8" name="Straight Arrow Connector 7">
            <a:extLst>
              <a:ext uri="{FF2B5EF4-FFF2-40B4-BE49-F238E27FC236}">
                <a16:creationId xmlns:a16="http://schemas.microsoft.com/office/drawing/2014/main" id="{AD708A08-9610-89B4-B413-821DCD782128}"/>
              </a:ext>
            </a:extLst>
          </p:cNvPr>
          <p:cNvCxnSpPr>
            <a:cxnSpLocks/>
            <a:stCxn id="6" idx="1"/>
          </p:cNvCxnSpPr>
          <p:nvPr/>
        </p:nvCxnSpPr>
        <p:spPr>
          <a:xfrm flipH="1">
            <a:off x="6221896" y="6284498"/>
            <a:ext cx="410017" cy="530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18A6064-DC54-55F6-CD35-66976F334B4D}"/>
              </a:ext>
            </a:extLst>
          </p:cNvPr>
          <p:cNvSpPr txBox="1"/>
          <p:nvPr/>
        </p:nvSpPr>
        <p:spPr>
          <a:xfrm>
            <a:off x="6631913" y="4077986"/>
            <a:ext cx="5043122" cy="400110"/>
          </a:xfrm>
          <a:prstGeom prst="rect">
            <a:avLst/>
          </a:prstGeom>
          <a:noFill/>
        </p:spPr>
        <p:txBody>
          <a:bodyPr wrap="square">
            <a:spAutoFit/>
          </a:bodyPr>
          <a:lstStyle/>
          <a:p>
            <a:r>
              <a:rPr lang="en-CA" sz="2000" dirty="0"/>
              <a:t>110 degrees Fahrenheit = </a:t>
            </a:r>
            <a:r>
              <a:rPr lang="en-CA" sz="2000" b="1" dirty="0">
                <a:solidFill>
                  <a:srgbClr val="FF0000"/>
                </a:solidFill>
              </a:rPr>
              <a:t>43 degrees Celsius</a:t>
            </a:r>
          </a:p>
        </p:txBody>
      </p:sp>
      <p:cxnSp>
        <p:nvCxnSpPr>
          <p:cNvPr id="11" name="Straight Arrow Connector 10">
            <a:extLst>
              <a:ext uri="{FF2B5EF4-FFF2-40B4-BE49-F238E27FC236}">
                <a16:creationId xmlns:a16="http://schemas.microsoft.com/office/drawing/2014/main" id="{38AAB049-F3F6-26DD-5CA7-A66E06B08D4B}"/>
              </a:ext>
            </a:extLst>
          </p:cNvPr>
          <p:cNvCxnSpPr>
            <a:cxnSpLocks/>
          </p:cNvCxnSpPr>
          <p:nvPr/>
        </p:nvCxnSpPr>
        <p:spPr>
          <a:xfrm flipH="1">
            <a:off x="6221896" y="4262652"/>
            <a:ext cx="410017" cy="684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29E8928D-709D-80DF-F561-B401AAF29CAD}"/>
              </a:ext>
            </a:extLst>
          </p:cNvPr>
          <p:cNvSpPr txBox="1"/>
          <p:nvPr/>
        </p:nvSpPr>
        <p:spPr>
          <a:xfrm>
            <a:off x="6631913" y="4992608"/>
            <a:ext cx="4629122" cy="830997"/>
          </a:xfrm>
          <a:prstGeom prst="rect">
            <a:avLst/>
          </a:prstGeom>
          <a:noFill/>
        </p:spPr>
        <p:txBody>
          <a:bodyPr wrap="square">
            <a:spAutoFit/>
          </a:bodyPr>
          <a:lstStyle/>
          <a:p>
            <a:pPr algn="ctr"/>
            <a:r>
              <a:rPr lang="en-CA" sz="2400" b="1" dirty="0"/>
              <a:t>Recall these are </a:t>
            </a:r>
            <a:r>
              <a:rPr lang="en-CA" sz="2400" b="1" u="sng" dirty="0"/>
              <a:t>average</a:t>
            </a:r>
            <a:r>
              <a:rPr lang="en-CA" sz="2400" b="1" dirty="0"/>
              <a:t> temperatures! </a:t>
            </a:r>
          </a:p>
        </p:txBody>
      </p:sp>
      <p:pic>
        <p:nvPicPr>
          <p:cNvPr id="7" name="Graphic 6" descr="Snowflake with solid fill">
            <a:extLst>
              <a:ext uri="{FF2B5EF4-FFF2-40B4-BE49-F238E27FC236}">
                <a16:creationId xmlns:a16="http://schemas.microsoft.com/office/drawing/2014/main" id="{315F883D-1864-B2A2-EF33-6D4C1D8BFF9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74767" y="5768583"/>
            <a:ext cx="914400" cy="914400"/>
          </a:xfrm>
          <a:prstGeom prst="rect">
            <a:avLst/>
          </a:prstGeom>
        </p:spPr>
      </p:pic>
      <p:pic>
        <p:nvPicPr>
          <p:cNvPr id="12" name="Graphic 11" descr="Fire with solid fill">
            <a:extLst>
              <a:ext uri="{FF2B5EF4-FFF2-40B4-BE49-F238E27FC236}">
                <a16:creationId xmlns:a16="http://schemas.microsoft.com/office/drawing/2014/main" id="{129958BE-219E-BB41-4100-353BE001EA78}"/>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253433" y="3742764"/>
            <a:ext cx="828000" cy="828000"/>
          </a:xfrm>
          <a:prstGeom prst="rect">
            <a:avLst/>
          </a:prstGeom>
        </p:spPr>
      </p:pic>
    </p:spTree>
    <p:extLst>
      <p:ext uri="{BB962C8B-B14F-4D97-AF65-F5344CB8AC3E}">
        <p14:creationId xmlns:p14="http://schemas.microsoft.com/office/powerpoint/2010/main" val="4185465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0D33D-5CC3-4177-6003-0F501E032676}"/>
              </a:ext>
            </a:extLst>
          </p:cNvPr>
          <p:cNvSpPr>
            <a:spLocks noGrp="1"/>
          </p:cNvSpPr>
          <p:nvPr>
            <p:ph type="title"/>
          </p:nvPr>
        </p:nvSpPr>
        <p:spPr/>
        <p:txBody>
          <a:bodyPr/>
          <a:lstStyle/>
          <a:p>
            <a:r>
              <a:rPr lang="en-CA" dirty="0"/>
              <a:t>How to improve upon this plot?</a:t>
            </a:r>
          </a:p>
        </p:txBody>
      </p:sp>
    </p:spTree>
    <p:extLst>
      <p:ext uri="{BB962C8B-B14F-4D97-AF65-F5344CB8AC3E}">
        <p14:creationId xmlns:p14="http://schemas.microsoft.com/office/powerpoint/2010/main" val="4256154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0D33D-5CC3-4177-6003-0F501E032676}"/>
              </a:ext>
            </a:extLst>
          </p:cNvPr>
          <p:cNvSpPr>
            <a:spLocks noGrp="1"/>
          </p:cNvSpPr>
          <p:nvPr>
            <p:ph type="title"/>
          </p:nvPr>
        </p:nvSpPr>
        <p:spPr/>
        <p:txBody>
          <a:bodyPr/>
          <a:lstStyle/>
          <a:p>
            <a:r>
              <a:rPr lang="en-CA" dirty="0"/>
              <a:t>How to improve upon this plot?</a:t>
            </a:r>
          </a:p>
        </p:txBody>
      </p:sp>
      <p:sp>
        <p:nvSpPr>
          <p:cNvPr id="3" name="Content Placeholder 2">
            <a:extLst>
              <a:ext uri="{FF2B5EF4-FFF2-40B4-BE49-F238E27FC236}">
                <a16:creationId xmlns:a16="http://schemas.microsoft.com/office/drawing/2014/main" id="{D4D26313-C0E8-64DF-B24E-E00AFA167A99}"/>
              </a:ext>
            </a:extLst>
          </p:cNvPr>
          <p:cNvSpPr>
            <a:spLocks noGrp="1"/>
          </p:cNvSpPr>
          <p:nvPr>
            <p:ph idx="1"/>
          </p:nvPr>
        </p:nvSpPr>
        <p:spPr/>
        <p:txBody>
          <a:bodyPr/>
          <a:lstStyle/>
          <a:p>
            <a:pPr marL="0" indent="0">
              <a:buNone/>
            </a:pPr>
            <a:r>
              <a:rPr lang="en-CA" dirty="0"/>
              <a:t>Some ideas:</a:t>
            </a:r>
          </a:p>
          <a:p>
            <a:r>
              <a:rPr lang="en-CA" dirty="0"/>
              <a:t>Cite the data source</a:t>
            </a:r>
          </a:p>
          <a:p>
            <a:r>
              <a:rPr lang="en-CA" dirty="0"/>
              <a:t>Select an appropriate y-axis range given the data</a:t>
            </a:r>
          </a:p>
          <a:p>
            <a:r>
              <a:rPr lang="en-CA" dirty="0"/>
              <a:t>Label the y-axis and x-axis</a:t>
            </a:r>
          </a:p>
          <a:p>
            <a:r>
              <a:rPr lang="en-CA" dirty="0"/>
              <a:t>Specify temperature metric</a:t>
            </a:r>
          </a:p>
          <a:p>
            <a:r>
              <a:rPr lang="en-CA" dirty="0"/>
              <a:t>Increase legibility</a:t>
            </a:r>
          </a:p>
          <a:p>
            <a:r>
              <a:rPr lang="en-CA" dirty="0"/>
              <a:t>Show variability</a:t>
            </a:r>
          </a:p>
          <a:p>
            <a:r>
              <a:rPr lang="en-CA" dirty="0"/>
              <a:t>Consider anomaly approach?</a:t>
            </a:r>
          </a:p>
        </p:txBody>
      </p:sp>
    </p:spTree>
    <p:extLst>
      <p:ext uri="{BB962C8B-B14F-4D97-AF65-F5344CB8AC3E}">
        <p14:creationId xmlns:p14="http://schemas.microsoft.com/office/powerpoint/2010/main" val="570965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7347-1904-0462-7B97-D8B77DDCD8EB}"/>
              </a:ext>
            </a:extLst>
          </p:cNvPr>
          <p:cNvSpPr>
            <a:spLocks noGrp="1"/>
          </p:cNvSpPr>
          <p:nvPr>
            <p:ph type="title"/>
          </p:nvPr>
        </p:nvSpPr>
        <p:spPr>
          <a:xfrm>
            <a:off x="838200" y="212725"/>
            <a:ext cx="3609109" cy="2440420"/>
          </a:xfrm>
        </p:spPr>
        <p:txBody>
          <a:bodyPr/>
          <a:lstStyle/>
          <a:p>
            <a:r>
              <a:rPr lang="en-CA" dirty="0"/>
              <a:t>An alternate approach</a:t>
            </a:r>
          </a:p>
        </p:txBody>
      </p:sp>
      <p:sp>
        <p:nvSpPr>
          <p:cNvPr id="3" name="Content Placeholder 2">
            <a:extLst>
              <a:ext uri="{FF2B5EF4-FFF2-40B4-BE49-F238E27FC236}">
                <a16:creationId xmlns:a16="http://schemas.microsoft.com/office/drawing/2014/main" id="{166E6950-3097-00C0-9248-3877603B84A0}"/>
              </a:ext>
            </a:extLst>
          </p:cNvPr>
          <p:cNvSpPr>
            <a:spLocks noGrp="1"/>
          </p:cNvSpPr>
          <p:nvPr>
            <p:ph idx="1"/>
          </p:nvPr>
        </p:nvSpPr>
        <p:spPr>
          <a:xfrm>
            <a:off x="838200" y="3015668"/>
            <a:ext cx="2686397" cy="2073576"/>
          </a:xfrm>
        </p:spPr>
        <p:txBody>
          <a:bodyPr>
            <a:normAutofit/>
          </a:bodyPr>
          <a:lstStyle/>
          <a:p>
            <a:pPr marL="0" indent="0">
              <a:buNone/>
            </a:pPr>
            <a:r>
              <a:rPr lang="en-CA" sz="1800" dirty="0"/>
              <a:t>https://climate.nasa.gov/vital-signs/global-temperature/?intent=121</a:t>
            </a:r>
          </a:p>
        </p:txBody>
      </p:sp>
      <p:pic>
        <p:nvPicPr>
          <p:cNvPr id="7" name="Picture 6">
            <a:extLst>
              <a:ext uri="{FF2B5EF4-FFF2-40B4-BE49-F238E27FC236}">
                <a16:creationId xmlns:a16="http://schemas.microsoft.com/office/drawing/2014/main" id="{95395775-C75E-79FE-D4DB-92BA7D85DE60}"/>
              </a:ext>
            </a:extLst>
          </p:cNvPr>
          <p:cNvPicPr>
            <a:picLocks noChangeAspect="1"/>
          </p:cNvPicPr>
          <p:nvPr/>
        </p:nvPicPr>
        <p:blipFill>
          <a:blip r:embed="rId3"/>
          <a:stretch>
            <a:fillRect/>
          </a:stretch>
        </p:blipFill>
        <p:spPr>
          <a:xfrm>
            <a:off x="4094019" y="139199"/>
            <a:ext cx="8065877" cy="6549908"/>
          </a:xfrm>
          <a:prstGeom prst="rect">
            <a:avLst/>
          </a:prstGeom>
        </p:spPr>
      </p:pic>
    </p:spTree>
    <p:extLst>
      <p:ext uri="{BB962C8B-B14F-4D97-AF65-F5344CB8AC3E}">
        <p14:creationId xmlns:p14="http://schemas.microsoft.com/office/powerpoint/2010/main" val="155776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C37A9-C76A-5EA6-6B9A-FC50A031BEF1}"/>
              </a:ext>
            </a:extLst>
          </p:cNvPr>
          <p:cNvSpPr>
            <a:spLocks noGrp="1"/>
          </p:cNvSpPr>
          <p:nvPr>
            <p:ph type="title"/>
          </p:nvPr>
        </p:nvSpPr>
        <p:spPr/>
        <p:txBody>
          <a:bodyPr/>
          <a:lstStyle/>
          <a:p>
            <a:r>
              <a:rPr lang="en-CA" dirty="0"/>
              <a:t>Let’s recreate both!</a:t>
            </a:r>
          </a:p>
        </p:txBody>
      </p:sp>
      <p:pic>
        <p:nvPicPr>
          <p:cNvPr id="30" name="Picture 29" descr="A graph showing the average global temperature&#10;&#10;Description automatically generated">
            <a:extLst>
              <a:ext uri="{FF2B5EF4-FFF2-40B4-BE49-F238E27FC236}">
                <a16:creationId xmlns:a16="http://schemas.microsoft.com/office/drawing/2014/main" id="{0B963607-C6A0-14CC-DB98-FE2199396A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59" y="2016583"/>
            <a:ext cx="5444911" cy="3062762"/>
          </a:xfrm>
          <a:prstGeom prst="rect">
            <a:avLst/>
          </a:prstGeom>
        </p:spPr>
      </p:pic>
      <p:pic>
        <p:nvPicPr>
          <p:cNvPr id="35" name="Picture 34">
            <a:extLst>
              <a:ext uri="{FF2B5EF4-FFF2-40B4-BE49-F238E27FC236}">
                <a16:creationId xmlns:a16="http://schemas.microsoft.com/office/drawing/2014/main" id="{6EB25DF3-2600-CCFA-CBD1-955C908C648A}"/>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5604386" y="1168074"/>
            <a:ext cx="6504898" cy="4675396"/>
          </a:xfrm>
          <a:prstGeom prst="rect">
            <a:avLst/>
          </a:prstGeom>
        </p:spPr>
      </p:pic>
    </p:spTree>
    <p:extLst>
      <p:ext uri="{BB962C8B-B14F-4D97-AF65-F5344CB8AC3E}">
        <p14:creationId xmlns:p14="http://schemas.microsoft.com/office/powerpoint/2010/main" val="1258285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4FAF-51E7-E8FE-AFD0-2FDCB29397D9}"/>
              </a:ext>
            </a:extLst>
          </p:cNvPr>
          <p:cNvSpPr>
            <a:spLocks noGrp="1"/>
          </p:cNvSpPr>
          <p:nvPr>
            <p:ph type="title"/>
          </p:nvPr>
        </p:nvSpPr>
        <p:spPr/>
        <p:txBody>
          <a:bodyPr/>
          <a:lstStyle/>
          <a:p>
            <a:r>
              <a:rPr lang="en-CA" dirty="0"/>
              <a:t>How would you present this data?</a:t>
            </a:r>
          </a:p>
        </p:txBody>
      </p:sp>
      <p:sp>
        <p:nvSpPr>
          <p:cNvPr id="3" name="Content Placeholder 2">
            <a:extLst>
              <a:ext uri="{FF2B5EF4-FFF2-40B4-BE49-F238E27FC236}">
                <a16:creationId xmlns:a16="http://schemas.microsoft.com/office/drawing/2014/main" id="{DFBAE069-0241-3FE0-61DA-A38F9C9DBD48}"/>
              </a:ext>
            </a:extLst>
          </p:cNvPr>
          <p:cNvSpPr>
            <a:spLocks noGrp="1"/>
          </p:cNvSpPr>
          <p:nvPr>
            <p:ph idx="1"/>
          </p:nvPr>
        </p:nvSpPr>
        <p:spPr/>
        <p:txBody>
          <a:bodyPr/>
          <a:lstStyle/>
          <a:p>
            <a:endParaRPr lang="en-CA"/>
          </a:p>
        </p:txBody>
      </p:sp>
    </p:spTree>
    <p:extLst>
      <p:ext uri="{BB962C8B-B14F-4D97-AF65-F5344CB8AC3E}">
        <p14:creationId xmlns:p14="http://schemas.microsoft.com/office/powerpoint/2010/main" val="14906681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8814</TotalTime>
  <Words>500</Words>
  <Application>Microsoft Office PowerPoint</Application>
  <PresentationFormat>Widescreen</PresentationFormat>
  <Paragraphs>51</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What’s wrong with this plot?</vt:lpstr>
      <vt:lpstr>What’s wrong with this plot?</vt:lpstr>
      <vt:lpstr>How to improve upon this plot?</vt:lpstr>
      <vt:lpstr>How to improve upon this plot?</vt:lpstr>
      <vt:lpstr>An alternate approach</vt:lpstr>
      <vt:lpstr>Let’s recreate both!</vt:lpstr>
      <vt:lpstr>How would you present this data?</vt:lpstr>
    </vt:vector>
  </TitlesOfParts>
  <Company>City of Toronto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What’s wrong with this plot?</dc:title>
  <dc:creator>Penelope Gorton</dc:creator>
  <cp:lastModifiedBy>Penelope Gorton</cp:lastModifiedBy>
  <cp:revision>11</cp:revision>
  <dcterms:created xsi:type="dcterms:W3CDTF">2025-01-24T17:28:20Z</dcterms:created>
  <dcterms:modified xsi:type="dcterms:W3CDTF">2025-02-04T14:54:34Z</dcterms:modified>
</cp:coreProperties>
</file>